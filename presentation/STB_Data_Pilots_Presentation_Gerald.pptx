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63" d="100"/>
          <a:sy n="163" d="100"/>
        </p:scale>
        <p:origin x="174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atastudio.google.com/reporting/022d1d9f-41de-4059-b308-191af6160a00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417320"/>
            <a:ext cx="10105780" cy="234936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rPr dirty="0"/>
              <a:t>Singapore Tourism</a:t>
            </a:r>
            <a:r>
              <a:rPr lang="en-SG" dirty="0"/>
              <a:t> Board</a:t>
            </a:r>
            <a:r>
              <a:rPr dirty="0"/>
              <a:t> Performance</a:t>
            </a:r>
            <a:r>
              <a:rPr lang="en-SG" dirty="0"/>
              <a:t> Deep-dive</a:t>
            </a:r>
            <a:endParaRPr dirty="0"/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rPr dirty="0"/>
              <a:t>Can international concerts help explain growth in our largest visitor segments?</a:t>
            </a:r>
          </a:p>
          <a:p>
            <a:pPr>
              <a:spcBef>
                <a:spcPts val="2800"/>
              </a:spcBef>
              <a:defRPr sz="1400">
                <a:solidFill>
                  <a:srgbClr val="BECDDC"/>
                </a:solidFill>
              </a:defRPr>
            </a:pPr>
            <a:r>
              <a:rPr dirty="0"/>
              <a:t>Senior Analyst, Data Pilots — Management Presentation</a:t>
            </a:r>
            <a:endParaRPr lang="en-SG" dirty="0"/>
          </a:p>
          <a:p>
            <a:pPr>
              <a:spcBef>
                <a:spcPts val="2800"/>
              </a:spcBef>
              <a:defRPr sz="1400">
                <a:solidFill>
                  <a:srgbClr val="BECDDC"/>
                </a:solidFill>
              </a:defRPr>
            </a:pPr>
            <a:r>
              <a:rPr lang="en-SG" dirty="0"/>
              <a:t>By Gerald Seet Hui Yang</a:t>
            </a:r>
            <a:endParaRPr dirty="0"/>
          </a:p>
        </p:txBody>
      </p:sp>
      <p:pic>
        <p:nvPicPr>
          <p:cNvPr id="11" name="Picture 10" descr="Singapore Tourism Board - Wikipedia">
            <a:extLst>
              <a:ext uri="{FF2B5EF4-FFF2-40B4-BE49-F238E27FC236}">
                <a16:creationId xmlns:a16="http://schemas.microsoft.com/office/drawing/2014/main" id="{766D173C-5EC0-1376-55DF-D77076CEC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2769" y="6230896"/>
            <a:ext cx="677133" cy="5417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A4A"/>
                </a:solidFill>
              </a:defRPr>
            </a:pPr>
            <a:r>
              <a:t>1. Singapore’s visitor base is concentrated in a stable set of major markets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570932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88A"/>
                </a:solidFill>
              </a:defRPr>
            </a:pPr>
            <a:r>
              <a:rPr dirty="0"/>
              <a:t>Average visitor-arrival rank across observable years; 2020–2022 excluded</a:t>
            </a:r>
            <a:r>
              <a:rPr lang="en-SG" dirty="0"/>
              <a:t> (Max rank = 53)</a:t>
            </a:r>
            <a:endParaRPr dirty="0"/>
          </a:p>
        </p:txBody>
      </p:sp>
      <p:sp>
        <p:nvSpPr>
          <p:cNvPr id="34" name="Rounded Rectangle 33"/>
          <p:cNvSpPr/>
          <p:nvPr/>
        </p:nvSpPr>
        <p:spPr>
          <a:xfrm>
            <a:off x="8321040" y="1828800"/>
            <a:ext cx="297180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85632" y="1993392"/>
            <a:ext cx="2642616" cy="9052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4699A"/>
                </a:solidFill>
              </a:defRPr>
            </a:pPr>
            <a:r>
              <a:rPr dirty="0"/>
              <a:t>Top 5</a:t>
            </a:r>
          </a:p>
          <a:p>
            <a:pPr>
              <a:defRPr sz="1200">
                <a:solidFill>
                  <a:srgbClr val="1E2228"/>
                </a:solidFill>
              </a:defRPr>
            </a:pPr>
            <a:r>
              <a:rPr dirty="0"/>
              <a:t>Indonesia, China, Malaysia,</a:t>
            </a:r>
            <a:br>
              <a:rPr dirty="0"/>
            </a:br>
            <a:r>
              <a:rPr dirty="0"/>
              <a:t>Australia and India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3429000"/>
            <a:ext cx="3063240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1E2228"/>
                </a:solidFill>
              </a:defRPr>
            </a:pPr>
            <a:r>
              <a:rPr dirty="0"/>
              <a:t>These markets consistently rank among Singapore’s largest sources of visitors.</a:t>
            </a:r>
          </a:p>
          <a:p>
            <a:pPr>
              <a:spcAft>
                <a:spcPts val="1200"/>
              </a:spcAft>
              <a:defRPr sz="1500">
                <a:solidFill>
                  <a:srgbClr val="1E2228"/>
                </a:solidFill>
              </a:defRPr>
            </a:pPr>
            <a:r>
              <a:rPr lang="en-SG" dirty="0"/>
              <a:t>This begs the question – can we pinpoint which </a:t>
            </a:r>
            <a:r>
              <a:rPr dirty="0"/>
              <a:t>demographic segments are driving </a:t>
            </a:r>
            <a:r>
              <a:rPr lang="en-SG" dirty="0"/>
              <a:t>high tourist arrivals from these markets?</a:t>
            </a:r>
            <a:endParaRPr dirty="0"/>
          </a:p>
        </p:txBody>
      </p:sp>
      <p:sp>
        <p:nvSpPr>
          <p:cNvPr id="37" name="Rectangle 36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78992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88A"/>
                </a:solidFill>
              </a:defRPr>
            </a:pPr>
            <a:r>
              <a:t>2</a:t>
            </a:r>
          </a:p>
        </p:txBody>
      </p:sp>
      <p:pic>
        <p:nvPicPr>
          <p:cNvPr id="366" name="Picture 365">
            <a:extLst>
              <a:ext uri="{FF2B5EF4-FFF2-40B4-BE49-F238E27FC236}">
                <a16:creationId xmlns:a16="http://schemas.microsoft.com/office/drawing/2014/main" id="{5F4F1906-55F2-AA01-5406-E9DE1B7700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46" y="1746911"/>
            <a:ext cx="7641022" cy="3364178"/>
          </a:xfrm>
          <a:prstGeom prst="rect">
            <a:avLst/>
          </a:prstGeom>
        </p:spPr>
      </p:pic>
      <p:pic>
        <p:nvPicPr>
          <p:cNvPr id="368" name="Picture 367" descr="Singapore Tourism Board - Wikipedia">
            <a:extLst>
              <a:ext uri="{FF2B5EF4-FFF2-40B4-BE49-F238E27FC236}">
                <a16:creationId xmlns:a16="http://schemas.microsoft.com/office/drawing/2014/main" id="{0C99C9FC-58FC-FC05-6BBB-5FC651785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2769" y="6230896"/>
            <a:ext cx="677133" cy="5417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A4A"/>
                </a:solidFill>
              </a:defRPr>
            </a:pPr>
            <a:r>
              <a:t>2. Working-age adults dominate the top 10 tourism markets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621477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88A"/>
                </a:solidFill>
              </a:defRPr>
            </a:pPr>
            <a:r>
              <a:rPr dirty="0"/>
              <a:t>Average demographic rank across the top 10 source markets</a:t>
            </a:r>
            <a:r>
              <a:rPr lang="en-SG" dirty="0"/>
              <a:t> (Rank 1.0 highest, Rank 16.0 lowest)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777240" y="1645920"/>
            <a:ext cx="5669280" cy="475488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719072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2228"/>
                </a:solidFill>
              </a:defRPr>
            </a:pPr>
            <a:r>
              <a:t>Male 35–44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719072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4699A"/>
                </a:solidFill>
              </a:defRPr>
            </a:pPr>
            <a:r>
              <a:t>Rank 2.59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304288"/>
            <a:ext cx="5669280" cy="475488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377440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2228"/>
                </a:solidFill>
              </a:defRPr>
            </a:pPr>
            <a:r>
              <a:t>Female 25–34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3774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4699A"/>
                </a:solidFill>
              </a:defRPr>
            </a:pPr>
            <a:r>
              <a:t>Rank 3.18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962656"/>
            <a:ext cx="5669280" cy="475488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3035808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2228"/>
                </a:solidFill>
              </a:defRPr>
            </a:pPr>
            <a:r>
              <a:t>Male 25–34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03580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4699A"/>
                </a:solidFill>
              </a:defRPr>
            </a:pPr>
            <a:r>
              <a:t>Rank 3.76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621024"/>
            <a:ext cx="5669280" cy="475488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694176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2228"/>
                </a:solidFill>
              </a:defRPr>
            </a:pPr>
            <a:r>
              <a:t>Male 45–54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694176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4699A"/>
                </a:solidFill>
              </a:defRPr>
            </a:pPr>
            <a:r>
              <a:t>Rank 3.80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279392"/>
            <a:ext cx="5669280" cy="475488"/>
          </a:xfrm>
          <a:prstGeom prst="round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4352544"/>
            <a:ext cx="3200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2228"/>
                </a:solidFill>
              </a:defRPr>
            </a:pPr>
            <a:r>
              <a:t>Female 35–44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352544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4699A"/>
                </a:solidFill>
              </a:defRPr>
            </a:pPr>
            <a:r>
              <a:t>Rank 5.09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640" y="1737360"/>
            <a:ext cx="3657600" cy="1371600"/>
          </a:xfrm>
          <a:prstGeom prst="round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71230" y="1901952"/>
            <a:ext cx="33722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2B7A5B"/>
                </a:solidFill>
              </a:defRPr>
            </a:pPr>
            <a:r>
              <a:rPr lang="en-SG" dirty="0"/>
              <a:t>Core segment</a:t>
            </a:r>
          </a:p>
          <a:p>
            <a:pPr>
              <a:defRPr sz="1200">
                <a:solidFill>
                  <a:srgbClr val="1E2228"/>
                </a:solidFill>
              </a:defRPr>
            </a:pPr>
            <a:r>
              <a:rPr dirty="0"/>
              <a:t>Males 25–54</a:t>
            </a:r>
            <a:br>
              <a:rPr dirty="0"/>
            </a:br>
            <a:r>
              <a:rPr dirty="0"/>
              <a:t>Females 25–44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3474720"/>
            <a:ext cx="36576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1E2228"/>
                </a:solidFill>
              </a:defRPr>
            </a:pPr>
            <a:r>
              <a:rPr lang="en-SG" dirty="0"/>
              <a:t>Singapore has seen the highest proportion of tourists from these </a:t>
            </a:r>
            <a:r>
              <a:rPr dirty="0"/>
              <a:t>five age-sex </a:t>
            </a:r>
            <a:r>
              <a:rPr lang="en-SG" dirty="0"/>
              <a:t>groups</a:t>
            </a:r>
            <a:r>
              <a:rPr dirty="0"/>
              <a:t> across the top 10 markets</a:t>
            </a:r>
            <a:r>
              <a:rPr lang="en-SG" dirty="0"/>
              <a:t> throughout the reporting period.</a:t>
            </a:r>
            <a:endParaRPr dirty="0"/>
          </a:p>
        </p:txBody>
      </p:sp>
      <p:sp>
        <p:nvSpPr>
          <p:cNvPr id="22" name="Rectangle 21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78992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88A"/>
                </a:solidFill>
              </a:defRPr>
            </a:pPr>
            <a:r>
              <a:t>3</a:t>
            </a:r>
          </a:p>
        </p:txBody>
      </p:sp>
      <p:pic>
        <p:nvPicPr>
          <p:cNvPr id="25" name="Picture 24" descr="Singapore Tourism Board - Wikipedia">
            <a:extLst>
              <a:ext uri="{FF2B5EF4-FFF2-40B4-BE49-F238E27FC236}">
                <a16:creationId xmlns:a16="http://schemas.microsoft.com/office/drawing/2014/main" id="{12B5E4F5-6FE1-0665-AD20-3259F3E1A6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2769" y="6230896"/>
            <a:ext cx="677133" cy="54170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176184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A4A"/>
                </a:solidFill>
              </a:defRPr>
            </a:pPr>
            <a:r>
              <a:rPr dirty="0"/>
              <a:t>3. Data meshing: </a:t>
            </a:r>
            <a:r>
              <a:rPr lang="en-SG" dirty="0"/>
              <a:t>D</a:t>
            </a:r>
            <a:r>
              <a:rPr dirty="0"/>
              <a:t>o international concerts move with visitor growth?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078992"/>
            <a:ext cx="883895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88A"/>
                </a:solidFill>
              </a:defRPr>
            </a:pPr>
            <a:r>
              <a:rPr dirty="0"/>
              <a:t>STAN demographic arrivals were meshed with a </a:t>
            </a:r>
            <a:r>
              <a:rPr lang="en-SG" dirty="0"/>
              <a:t>historical list of </a:t>
            </a:r>
            <a:r>
              <a:rPr dirty="0"/>
              <a:t>Singapore concert calendar</a:t>
            </a:r>
            <a:r>
              <a:rPr lang="en-SG" dirty="0"/>
              <a:t> events sourced online with the help of ChatGPT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214884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1115" y="2288701"/>
            <a:ext cx="187451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42A4A"/>
                </a:solidFill>
              </a:defRPr>
            </a:pPr>
            <a:r>
              <a:rPr dirty="0"/>
              <a:t>STAN</a:t>
            </a:r>
          </a:p>
          <a:p>
            <a:pPr algn="ctr">
              <a:defRPr sz="1200">
                <a:solidFill>
                  <a:srgbClr val="1E2228"/>
                </a:solidFill>
              </a:defRPr>
            </a:pPr>
            <a:r>
              <a:rPr dirty="0"/>
              <a:t>Monthly arrivals</a:t>
            </a:r>
            <a:br>
              <a:rPr dirty="0"/>
            </a:br>
            <a:r>
              <a:rPr dirty="0"/>
              <a:t>by market, age, sex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52928" y="242316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4699A"/>
                </a:solidFill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2011680"/>
            <a:ext cx="214884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54854" y="2334607"/>
            <a:ext cx="1714252" cy="7232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142A4A"/>
                </a:solidFill>
              </a:defRPr>
            </a:pPr>
            <a:r>
              <a:rPr dirty="0"/>
              <a:t>Concert calendar</a:t>
            </a:r>
            <a:endParaRPr lang="en-SG" dirty="0"/>
          </a:p>
          <a:p>
            <a:pPr algn="ctr">
              <a:defRPr sz="1200">
                <a:solidFill>
                  <a:srgbClr val="1E2228"/>
                </a:solidFill>
              </a:defRPr>
            </a:pPr>
            <a:r>
              <a:rPr lang="en-SG" dirty="0"/>
              <a:t>340 international /</a:t>
            </a:r>
            <a:br>
              <a:rPr lang="en-SG" dirty="0"/>
            </a:br>
            <a:r>
              <a:rPr lang="en-SG" dirty="0"/>
              <a:t>regional concerts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50408" y="242316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4699A"/>
                </a:solidFill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011680"/>
            <a:ext cx="214884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35383" y="2184515"/>
            <a:ext cx="1348154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42A4A"/>
                </a:solidFill>
              </a:defRPr>
            </a:pPr>
            <a:r>
              <a:rPr dirty="0"/>
              <a:t>Mesh</a:t>
            </a:r>
          </a:p>
          <a:p>
            <a:pPr algn="ctr">
              <a:defRPr sz="1200">
                <a:solidFill>
                  <a:srgbClr val="1E2228"/>
                </a:solidFill>
              </a:defRPr>
            </a:pPr>
            <a:r>
              <a:rPr dirty="0"/>
              <a:t>Year × month</a:t>
            </a:r>
            <a:r>
              <a:rPr lang="en-SG" dirty="0"/>
              <a:t> of concert vs tourist arrivals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8247888" y="2423160"/>
            <a:ext cx="411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4699A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2011680"/>
            <a:ext cx="214884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2DC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41777" y="2123744"/>
            <a:ext cx="1638885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42A4A"/>
                </a:solidFill>
              </a:defRPr>
            </a:pPr>
            <a:r>
              <a:rPr dirty="0"/>
              <a:t>Test</a:t>
            </a:r>
          </a:p>
          <a:p>
            <a:pPr algn="ctr">
              <a:defRPr sz="1200">
                <a:solidFill>
                  <a:srgbClr val="1E2228"/>
                </a:solidFill>
              </a:defRPr>
            </a:pPr>
            <a:r>
              <a:rPr dirty="0"/>
              <a:t>Concert vs no concert</a:t>
            </a:r>
            <a:br>
              <a:rPr dirty="0"/>
            </a:br>
            <a:r>
              <a:rPr dirty="0"/>
              <a:t>+ concert intensity</a:t>
            </a:r>
            <a:r>
              <a:rPr lang="en-SG" dirty="0"/>
              <a:t> (how many concerts held in a given month)</a:t>
            </a:r>
            <a:endParaRPr dirty="0"/>
          </a:p>
        </p:txBody>
      </p:sp>
      <p:sp>
        <p:nvSpPr>
          <p:cNvPr id="15" name="Rounded Rectangle 14"/>
          <p:cNvSpPr/>
          <p:nvPr/>
        </p:nvSpPr>
        <p:spPr>
          <a:xfrm>
            <a:off x="1566551" y="4194417"/>
            <a:ext cx="347472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731143" y="4359009"/>
            <a:ext cx="3145536" cy="8138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4699A"/>
                </a:solidFill>
              </a:defRPr>
            </a:pPr>
            <a:r>
              <a:rPr dirty="0"/>
              <a:t>Binary test</a:t>
            </a:r>
          </a:p>
          <a:p>
            <a:pPr>
              <a:defRPr sz="1200">
                <a:solidFill>
                  <a:srgbClr val="1E2228"/>
                </a:solidFill>
              </a:defRPr>
            </a:pPr>
            <a:r>
              <a:rPr dirty="0"/>
              <a:t>Is YoY growth higher in concert months?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67151" y="4194417"/>
            <a:ext cx="3859822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1742" y="4359009"/>
            <a:ext cx="3145536" cy="8138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4699A"/>
                </a:solidFill>
              </a:defRPr>
            </a:pPr>
            <a:r>
              <a:rPr dirty="0"/>
              <a:t>Intensity test</a:t>
            </a:r>
          </a:p>
          <a:p>
            <a:pPr>
              <a:defRPr sz="1200">
                <a:solidFill>
                  <a:srgbClr val="1E2228"/>
                </a:solidFill>
              </a:defRPr>
            </a:pPr>
            <a:r>
              <a:rPr dirty="0"/>
              <a:t>Do more concerts coincide with stronger YoY growth?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78992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88A"/>
                </a:solidFill>
              </a:defRPr>
            </a:pPr>
            <a:r>
              <a:t>4</a:t>
            </a:r>
          </a:p>
        </p:txBody>
      </p:sp>
      <p:pic>
        <p:nvPicPr>
          <p:cNvPr id="24" name="Picture 23" descr="Singapore Tourism Board - Wikipedia">
            <a:extLst>
              <a:ext uri="{FF2B5EF4-FFF2-40B4-BE49-F238E27FC236}">
                <a16:creationId xmlns:a16="http://schemas.microsoft.com/office/drawing/2014/main" id="{59C3C12C-8278-15E5-9D61-B06704355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2769" y="6230896"/>
            <a:ext cx="677133" cy="5417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21792" y="1418966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88A"/>
                </a:solidFill>
              </a:defRPr>
            </a:pPr>
            <a:r>
              <a:rPr dirty="0"/>
              <a:t>Statistical significance threshold: p &lt; 0.05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" y="1874520"/>
            <a:ext cx="466344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86384" y="2039112"/>
            <a:ext cx="3559949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7A5B"/>
                </a:solidFill>
              </a:defRPr>
            </a:pPr>
            <a:r>
              <a:rPr dirty="0"/>
              <a:t>6 / 10</a:t>
            </a:r>
          </a:p>
          <a:p>
            <a:pPr>
              <a:defRPr sz="1200">
                <a:solidFill>
                  <a:srgbClr val="1E2228"/>
                </a:solidFill>
              </a:defRPr>
            </a:pPr>
            <a:r>
              <a:rPr lang="en-SG" dirty="0"/>
              <a:t>T</a:t>
            </a:r>
            <a:r>
              <a:rPr dirty="0"/>
              <a:t>op markets showed significant positive uplift</a:t>
            </a:r>
            <a:br>
              <a:rPr dirty="0"/>
            </a:br>
            <a:r>
              <a:rPr dirty="0"/>
              <a:t>for at least one target demographic in concert months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874520"/>
            <a:ext cx="4663440" cy="1828800"/>
          </a:xfrm>
          <a:prstGeom prst="round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55664" y="2039112"/>
            <a:ext cx="3561424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2B7A5B"/>
                </a:solidFill>
              </a:defRPr>
            </a:pPr>
            <a:r>
              <a:rPr dirty="0"/>
              <a:t>7 / 10</a:t>
            </a:r>
          </a:p>
          <a:p>
            <a:pPr>
              <a:defRPr sz="1200">
                <a:solidFill>
                  <a:srgbClr val="1E2228"/>
                </a:solidFill>
              </a:defRPr>
            </a:pPr>
            <a:r>
              <a:rPr lang="en-SG" dirty="0"/>
              <a:t>T</a:t>
            </a:r>
            <a:r>
              <a:rPr dirty="0"/>
              <a:t>op markets showed a significant positive correlation</a:t>
            </a:r>
            <a:br>
              <a:rPr dirty="0"/>
            </a:br>
            <a:r>
              <a:rPr dirty="0"/>
              <a:t>between concert intensity and target-segment growth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158874"/>
            <a:ext cx="1014984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228"/>
                </a:solidFill>
              </a:defRPr>
            </a:pPr>
            <a:r>
              <a:rPr lang="en-SG" b="1" dirty="0"/>
              <a:t>Key finding 1: </a:t>
            </a:r>
            <a:r>
              <a:rPr lang="en-SG" dirty="0"/>
              <a:t>C</a:t>
            </a:r>
            <a:r>
              <a:rPr dirty="0" err="1"/>
              <a:t>oncert</a:t>
            </a:r>
            <a:r>
              <a:rPr dirty="0"/>
              <a:t> activity is associated with stronger Year-on-Year (YoY) visitor growth among key demographics across a majority of top markets.</a:t>
            </a:r>
            <a:endParaRPr lang="en-SG" dirty="0"/>
          </a:p>
          <a:p>
            <a:pPr>
              <a:spcAft>
                <a:spcPts val="1200"/>
              </a:spcAft>
              <a:defRPr sz="1800">
                <a:solidFill>
                  <a:srgbClr val="1E2228"/>
                </a:solidFill>
              </a:defRPr>
            </a:pPr>
            <a:r>
              <a:rPr lang="en-SG" b="1" dirty="0"/>
              <a:t>Key finding 2: </a:t>
            </a:r>
            <a:r>
              <a:rPr dirty="0"/>
              <a:t>The intensity result suggests the relationship is not limited to simply whether a concert occurred</a:t>
            </a:r>
            <a:r>
              <a:rPr lang="en-SG" dirty="0"/>
              <a:t> i.e., more concerts tend to result in higher tourist arrivals.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88A"/>
                </a:solidFill>
              </a:defRPr>
            </a:pPr>
            <a:r>
              <a:t>5</a:t>
            </a:r>
          </a:p>
        </p:txBody>
      </p:sp>
      <p:pic>
        <p:nvPicPr>
          <p:cNvPr id="14" name="Picture 13" descr="Singapore Tourism Board - Wikipedia">
            <a:extLst>
              <a:ext uri="{FF2B5EF4-FFF2-40B4-BE49-F238E27FC236}">
                <a16:creationId xmlns:a16="http://schemas.microsoft.com/office/drawing/2014/main" id="{17C5BF2A-7762-9870-FBAB-39A5937E2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2769" y="6230896"/>
            <a:ext cx="677133" cy="54170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CBD161E-3DD4-1A54-BD87-DC1E47DE4453}"/>
              </a:ext>
            </a:extLst>
          </p:cNvPr>
          <p:cNvSpPr txBox="1"/>
          <p:nvPr/>
        </p:nvSpPr>
        <p:spPr>
          <a:xfrm>
            <a:off x="594360" y="384048"/>
            <a:ext cx="9215856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42A4A"/>
                </a:solidFill>
              </a:defRPr>
            </a:pPr>
            <a:r>
              <a:rPr lang="en-US" sz="2700" dirty="0"/>
              <a:t>4. Concert activity is positively associated with target-segment </a:t>
            </a:r>
          </a:p>
          <a:p>
            <a:pPr>
              <a:defRPr sz="2700" b="1">
                <a:solidFill>
                  <a:srgbClr val="142A4A"/>
                </a:solidFill>
              </a:defRPr>
            </a:pPr>
            <a:r>
              <a:rPr lang="en-US" sz="2700" dirty="0"/>
              <a:t>growth in most top markets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685800" y="1488715"/>
            <a:ext cx="324612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50392" y="1568936"/>
            <a:ext cx="2110771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4699A"/>
                </a:solidFill>
              </a:defRPr>
            </a:pPr>
            <a:r>
              <a:rPr dirty="0"/>
              <a:t>Target</a:t>
            </a:r>
            <a:endParaRPr lang="en-SG" dirty="0"/>
          </a:p>
          <a:p>
            <a:pPr>
              <a:defRPr sz="1200">
                <a:solidFill>
                  <a:srgbClr val="1E2228"/>
                </a:solidFill>
              </a:defRPr>
            </a:pPr>
            <a:r>
              <a:rPr lang="en-SG" dirty="0"/>
              <a:t>Top 10 source tourism markets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488715"/>
            <a:ext cx="324612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07992" y="1568936"/>
            <a:ext cx="3062826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4699A"/>
                </a:solidFill>
              </a:defRPr>
            </a:pPr>
            <a:r>
              <a:rPr dirty="0"/>
              <a:t>Pilot</a:t>
            </a:r>
          </a:p>
          <a:p>
            <a:pPr>
              <a:defRPr sz="1200">
                <a:solidFill>
                  <a:srgbClr val="1E2228"/>
                </a:solidFill>
              </a:defRPr>
            </a:pPr>
            <a:r>
              <a:rPr lang="en-SG" dirty="0"/>
              <a:t>Rollout targeted campaigns (i.e., </a:t>
            </a:r>
            <a:r>
              <a:rPr dirty="0"/>
              <a:t>flight + hotel</a:t>
            </a:r>
            <a:r>
              <a:rPr lang="en-SG" dirty="0"/>
              <a:t> </a:t>
            </a:r>
          </a:p>
          <a:p>
            <a:pPr>
              <a:defRPr sz="1200">
                <a:solidFill>
                  <a:srgbClr val="1E2228"/>
                </a:solidFill>
              </a:defRPr>
            </a:pPr>
            <a:r>
              <a:rPr lang="en-SG" dirty="0"/>
              <a:t>+ entertainment </a:t>
            </a:r>
            <a:r>
              <a:rPr dirty="0"/>
              <a:t>packages</a:t>
            </a:r>
            <a:r>
              <a:rPr lang="en-SG" dirty="0"/>
              <a:t>) aimed at our top </a:t>
            </a:r>
          </a:p>
          <a:p>
            <a:pPr>
              <a:defRPr sz="1200">
                <a:solidFill>
                  <a:srgbClr val="1E2228"/>
                </a:solidFill>
              </a:defRPr>
            </a:pPr>
            <a:r>
              <a:rPr lang="en-SG" dirty="0"/>
              <a:t>markets during major concert periods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482853"/>
            <a:ext cx="324612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65592" y="1563074"/>
            <a:ext cx="2916936" cy="9966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34699A"/>
                </a:solidFill>
              </a:defRPr>
            </a:pPr>
            <a:r>
              <a:rPr dirty="0"/>
              <a:t>Measure</a:t>
            </a:r>
          </a:p>
          <a:p>
            <a:pPr>
              <a:defRPr sz="1200">
                <a:solidFill>
                  <a:srgbClr val="1E2228"/>
                </a:solidFill>
              </a:defRPr>
            </a:pPr>
            <a:r>
              <a:rPr dirty="0"/>
              <a:t>Incremental arrivals,</a:t>
            </a:r>
            <a:br>
              <a:rPr dirty="0"/>
            </a:br>
            <a:r>
              <a:rPr dirty="0"/>
              <a:t>spend and length of stay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46602"/>
            <a:ext cx="10561320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228"/>
                </a:solidFill>
              </a:defRPr>
            </a:pPr>
            <a:r>
              <a:rPr lang="en-US" dirty="0"/>
              <a:t>In our top markets, </a:t>
            </a:r>
            <a:r>
              <a:rPr lang="en-SG" dirty="0"/>
              <a:t>concert activity is significantly associated with stronger YoY visitor-arrival growth for at least one key demographic segment — males 25–54 and/or females 25–44 — in a majority of markets.</a:t>
            </a:r>
          </a:p>
          <a:p>
            <a:pPr>
              <a:spcAft>
                <a:spcPts val="1200"/>
              </a:spcAft>
              <a:defRPr sz="1800">
                <a:solidFill>
                  <a:srgbClr val="1E2228"/>
                </a:solidFill>
              </a:defRPr>
            </a:pPr>
            <a:r>
              <a:rPr lang="en-SG" b="1" dirty="0"/>
              <a:t>Caveats: </a:t>
            </a:r>
            <a:r>
              <a:rPr lang="en-SG" dirty="0"/>
              <a:t>External factors such as seasonality, airfares, accommodation costs and other major events are not controlled for. The analysis identifies statistical associations, not causality; concerts should therefore be considered </a:t>
            </a:r>
            <a:r>
              <a:rPr lang="en-SG" b="1" dirty="0"/>
              <a:t>one possible contributor</a:t>
            </a:r>
            <a:r>
              <a:rPr lang="en-SG" dirty="0"/>
              <a:t> to visitor growth.</a:t>
            </a:r>
          </a:p>
          <a:p>
            <a:pPr>
              <a:spcAft>
                <a:spcPts val="1200"/>
              </a:spcAft>
              <a:defRPr sz="1800">
                <a:solidFill>
                  <a:srgbClr val="1E2228"/>
                </a:solidFill>
              </a:defRPr>
            </a:pPr>
            <a:endParaRPr lang="en-SG" dirty="0"/>
          </a:p>
          <a:p>
            <a:pPr algn="ctr">
              <a:spcAft>
                <a:spcPts val="1200"/>
              </a:spcAft>
              <a:defRPr sz="1800">
                <a:solidFill>
                  <a:srgbClr val="1E2228"/>
                </a:solidFill>
              </a:defRPr>
            </a:pPr>
            <a:r>
              <a:rPr lang="en-US" b="1" dirty="0"/>
              <a:t>Management takeaway: </a:t>
            </a:r>
            <a:r>
              <a:rPr lang="en-SG" b="1" dirty="0"/>
              <a:t>When targeting priority source markets, consider aligning campaign rollouts with major concert periods and test whether this generates incremental tourism demand.</a:t>
            </a:r>
            <a:endParaRPr lang="en-US" b="1" dirty="0"/>
          </a:p>
        </p:txBody>
      </p:sp>
      <p:sp>
        <p:nvSpPr>
          <p:cNvPr id="11" name="Rectangle 10"/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78992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88A"/>
                </a:solidFill>
              </a:defRPr>
            </a:pPr>
            <a:r>
              <a:t>6</a:t>
            </a:r>
          </a:p>
        </p:txBody>
      </p:sp>
      <p:pic>
        <p:nvPicPr>
          <p:cNvPr id="16" name="Picture 15" descr="Singapore Tourism Board - Wikipedia">
            <a:extLst>
              <a:ext uri="{FF2B5EF4-FFF2-40B4-BE49-F238E27FC236}">
                <a16:creationId xmlns:a16="http://schemas.microsoft.com/office/drawing/2014/main" id="{630073C6-4BEE-D6A0-F71E-5D3378A4C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2769" y="6230896"/>
            <a:ext cx="677133" cy="54170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C0D78DD-B633-A394-6AF6-B793C47BB910}"/>
              </a:ext>
            </a:extLst>
          </p:cNvPr>
          <p:cNvSpPr txBox="1"/>
          <p:nvPr/>
        </p:nvSpPr>
        <p:spPr>
          <a:xfrm>
            <a:off x="594359" y="384048"/>
            <a:ext cx="108473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A4A"/>
                </a:solidFill>
              </a:defRPr>
            </a:pPr>
            <a:r>
              <a:rPr lang="en-US" dirty="0"/>
              <a:t>5. Recommendation: Synergize rolling out campaigns targeted at Top 10 Markets during major concert periods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30498-751B-1DAA-6492-9A8524E6D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1307224-8F1E-8ED1-3921-4BEDC31261D6}"/>
              </a:ext>
            </a:extLst>
          </p:cNvPr>
          <p:cNvSpPr txBox="1"/>
          <p:nvPr/>
        </p:nvSpPr>
        <p:spPr>
          <a:xfrm>
            <a:off x="685800" y="1528820"/>
            <a:ext cx="10561320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E2228"/>
                </a:solidFill>
              </a:defRPr>
            </a:pPr>
            <a:r>
              <a:rPr lang="en-US" b="1" dirty="0">
                <a:hlinkClick r:id="rId2"/>
              </a:rPr>
              <a:t>https://datastudio.google.com/reporting/022d1d9f-41de-4059-b308-191af6160a00</a:t>
            </a:r>
            <a:endParaRPr lang="en-US" b="1" dirty="0"/>
          </a:p>
          <a:p>
            <a:pPr>
              <a:spcAft>
                <a:spcPts val="1200"/>
              </a:spcAft>
              <a:defRPr sz="1800">
                <a:solidFill>
                  <a:srgbClr val="1E2228"/>
                </a:solidFill>
              </a:defRPr>
            </a:pPr>
            <a:endParaRPr lang="en-US" b="1" dirty="0"/>
          </a:p>
          <a:p>
            <a:pPr>
              <a:spcAft>
                <a:spcPts val="1200"/>
              </a:spcAft>
              <a:defRPr sz="1800">
                <a:solidFill>
                  <a:srgbClr val="1E2228"/>
                </a:solidFill>
              </a:defRPr>
            </a:pPr>
            <a:endParaRPr lang="en-US" b="1" dirty="0"/>
          </a:p>
          <a:p>
            <a:pPr>
              <a:spcAft>
                <a:spcPts val="1200"/>
              </a:spcAft>
              <a:defRPr sz="1800">
                <a:solidFill>
                  <a:srgbClr val="1E2228"/>
                </a:solidFill>
              </a:defRPr>
            </a:pPr>
            <a:endParaRPr lang="en-US" b="1" dirty="0"/>
          </a:p>
          <a:p>
            <a:pPr>
              <a:spcAft>
                <a:spcPts val="1200"/>
              </a:spcAft>
              <a:defRPr sz="1800">
                <a:solidFill>
                  <a:srgbClr val="1E2228"/>
                </a:solidFill>
              </a:defRPr>
            </a:pPr>
            <a:endParaRPr lang="en-US" b="1" dirty="0"/>
          </a:p>
          <a:p>
            <a:pPr>
              <a:spcAft>
                <a:spcPts val="1200"/>
              </a:spcAft>
              <a:defRPr sz="1800">
                <a:solidFill>
                  <a:srgbClr val="1E2228"/>
                </a:solidFill>
              </a:defRPr>
            </a:pPr>
            <a:endParaRPr lang="en-US" b="1" dirty="0"/>
          </a:p>
          <a:p>
            <a:pPr>
              <a:spcAft>
                <a:spcPts val="1200"/>
              </a:spcAft>
              <a:defRPr sz="1800">
                <a:solidFill>
                  <a:srgbClr val="1E2228"/>
                </a:solidFill>
              </a:defRPr>
            </a:pPr>
            <a:endParaRPr lang="en-US" b="1" dirty="0"/>
          </a:p>
          <a:p>
            <a:pPr>
              <a:spcAft>
                <a:spcPts val="1200"/>
              </a:spcAft>
              <a:defRPr sz="1800">
                <a:solidFill>
                  <a:srgbClr val="1E2228"/>
                </a:solidFill>
              </a:defRPr>
            </a:pPr>
            <a:endParaRPr lang="en-US" b="1" dirty="0"/>
          </a:p>
          <a:p>
            <a:pPr>
              <a:spcAft>
                <a:spcPts val="1200"/>
              </a:spcAft>
              <a:defRPr sz="1800">
                <a:solidFill>
                  <a:srgbClr val="1E2228"/>
                </a:solidFill>
              </a:defRPr>
            </a:pPr>
            <a:endParaRPr lang="en-US" b="1" dirty="0"/>
          </a:p>
          <a:p>
            <a:pPr algn="ctr">
              <a:spcAft>
                <a:spcPts val="1200"/>
              </a:spcAft>
              <a:defRPr sz="1800">
                <a:solidFill>
                  <a:srgbClr val="1E2228"/>
                </a:solidFill>
              </a:defRPr>
            </a:pPr>
            <a:r>
              <a:rPr lang="en-US" b="1" dirty="0"/>
              <a:t>- THE END -</a:t>
            </a:r>
          </a:p>
          <a:p>
            <a:pPr>
              <a:spcAft>
                <a:spcPts val="1200"/>
              </a:spcAft>
              <a:defRPr sz="1800">
                <a:solidFill>
                  <a:srgbClr val="1E2228"/>
                </a:solidFill>
              </a:defRPr>
            </a:pPr>
            <a:endParaRPr lang="en-US" b="1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C9E3265-FDA7-3BB1-6B25-D0391F58496D}"/>
              </a:ext>
            </a:extLst>
          </p:cNvPr>
          <p:cNvSpPr/>
          <p:nvPr/>
        </p:nvSpPr>
        <p:spPr>
          <a:xfrm>
            <a:off x="594360" y="6473952"/>
            <a:ext cx="10972800" cy="18288"/>
          </a:xfrm>
          <a:prstGeom prst="rect">
            <a:avLst/>
          </a:prstGeom>
          <a:solidFill>
            <a:srgbClr val="DC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5315BC4-49A3-60F7-3DD4-16085B7B5B32}"/>
              </a:ext>
            </a:extLst>
          </p:cNvPr>
          <p:cNvSpPr txBox="1"/>
          <p:nvPr/>
        </p:nvSpPr>
        <p:spPr>
          <a:xfrm>
            <a:off x="10789920" y="649224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88A"/>
                </a:solidFill>
              </a:defRPr>
            </a:pPr>
            <a:r>
              <a:t>6</a:t>
            </a:r>
          </a:p>
        </p:txBody>
      </p:sp>
      <p:pic>
        <p:nvPicPr>
          <p:cNvPr id="16" name="Picture 15" descr="Singapore Tourism Board - Wikipedia">
            <a:extLst>
              <a:ext uri="{FF2B5EF4-FFF2-40B4-BE49-F238E27FC236}">
                <a16:creationId xmlns:a16="http://schemas.microsoft.com/office/drawing/2014/main" id="{A205EDE3-3F19-428A-F711-F09202395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2769" y="6230896"/>
            <a:ext cx="677133" cy="54170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3DD7855-4A44-557C-CA34-00B88853F5FD}"/>
              </a:ext>
            </a:extLst>
          </p:cNvPr>
          <p:cNvSpPr txBox="1"/>
          <p:nvPr/>
        </p:nvSpPr>
        <p:spPr>
          <a:xfrm>
            <a:off x="594359" y="384048"/>
            <a:ext cx="1084736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142A4A"/>
                </a:solidFill>
              </a:defRPr>
            </a:pPr>
            <a:r>
              <a:rPr lang="en-US" dirty="0"/>
              <a:t>7. Dashboard Link</a:t>
            </a:r>
          </a:p>
        </p:txBody>
      </p:sp>
    </p:spTree>
    <p:extLst>
      <p:ext uri="{BB962C8B-B14F-4D97-AF65-F5344CB8AC3E}">
        <p14:creationId xmlns:p14="http://schemas.microsoft.com/office/powerpoint/2010/main" val="71170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592</Words>
  <Application>Microsoft Office PowerPoint</Application>
  <PresentationFormat>Widescreen</PresentationFormat>
  <Paragraphs>81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 S</cp:lastModifiedBy>
  <cp:revision>4</cp:revision>
  <dcterms:created xsi:type="dcterms:W3CDTF">2013-01-27T09:14:16Z</dcterms:created>
  <dcterms:modified xsi:type="dcterms:W3CDTF">2026-08-19T07:27:04Z</dcterms:modified>
  <cp:category/>
</cp:coreProperties>
</file>